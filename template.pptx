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78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85444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CF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-457200"/>
            <a:ext cx="2926080" cy="2926080"/>
          </a:xfrm>
          <a:prstGeom prst="ellipse">
            <a:avLst/>
          </a:prstGeom>
          <a:solidFill>
            <a:srgbClr val="FFFFFF">
              <a:alpha val="4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572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CFF33"/>
                </a:solidFill>
              </a:rPr>
              <a:t>LC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LEANDRO COSER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560320" cy="347472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D7860"/>
                </a:solidFill>
              </a:rPr>
              <a:t>ANÁLISE DE PERFIL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Instagram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Clínica Estética Prestige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65760" y="37033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CFF33"/>
                </a:solidFill>
              </a:rPr>
              <a:t>@clinicaprestige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📅  16/03/2026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AA9A"/>
                </a:solidFill>
              </a:rPr>
              <a:t>Leandro Coser  |  Estrategista de Conteúdo Digital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Visão Geral do Perfil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FF33"/>
                </a:solidFill>
              </a:rPr>
              <a:t>@clinicaprestige · Estética &amp; Beleza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0" cy="73152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7860"/>
                </a:solidFill>
              </a:rPr>
              <a:t>PERFIL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D6B5E"/>
                </a:solidFill>
              </a:rPr>
              <a:t>NOME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8"/>
                </a:solidFill>
              </a:rPr>
              <a:t>Clínica Estética Prestige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2677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D6B5E"/>
                </a:solidFill>
              </a:rPr>
              <a:t>USERNAME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8"/>
                </a:solidFill>
              </a:rPr>
              <a:t>@clinicaprestige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7980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D6B5E"/>
                </a:solidFill>
              </a:rPr>
              <a:t>TIPO DE CONTA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2999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8"/>
                </a:solidFill>
              </a:rPr>
              <a:t>Business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3284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D6B5E"/>
                </a:solidFill>
              </a:rPr>
              <a:t>NICHO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3529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8"/>
                </a:solidFill>
              </a:rPr>
              <a:t>Estética &amp; Beleza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8587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D6B5E"/>
                </a:solidFill>
              </a:rPr>
              <a:t>BIO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" y="40599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8"/>
                </a:solidFill>
              </a:rPr>
              <a:t>Transformando beleza em confiança ✨ Agende sua consulta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234440"/>
            <a:ext cx="1920240" cy="73152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860"/>
                </a:solidFill>
              </a:rPr>
              <a:t>12,4K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75488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6B5E"/>
                </a:solidFill>
              </a:rPr>
              <a:t>Seguidores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123444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234440"/>
            <a:ext cx="1920240" cy="73152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860"/>
                </a:solidFill>
              </a:rPr>
              <a:t>856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90372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6B5E"/>
                </a:solidFill>
              </a:rPr>
              <a:t>Seguindo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6974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697480"/>
            <a:ext cx="1920240" cy="73152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834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860"/>
                </a:solidFill>
              </a:rPr>
              <a:t>247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75488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6B5E"/>
                </a:solidFill>
              </a:rPr>
              <a:t>Posts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03720" y="26974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03720" y="2697480"/>
            <a:ext cx="1920240" cy="73152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2834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860"/>
                </a:solidFill>
              </a:rPr>
              <a:t>3.2%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90372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6B5E"/>
                </a:solidFill>
              </a:rPr>
              <a:t>Taxa de Eng.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4069080"/>
            <a:ext cx="4069080" cy="640080"/>
          </a:xfrm>
          <a:prstGeom prst="rect">
            <a:avLst/>
          </a:prstGeom>
          <a:solidFill>
            <a:srgbClr val="0D7860">
              <a:alpha val="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54880" y="4069080"/>
            <a:ext cx="54864" cy="640080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37" name="Text 35"/>
          <p:cNvSpPr/>
          <p:nvPr/>
        </p:nvSpPr>
        <p:spPr>
          <a:xfrm>
            <a:off x="4919472" y="4114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E28"/>
                </a:solidFill>
              </a:rPr>
              <a:t>Perfil com bom posicionamento visual, mas carece de estratégia de conversão.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01000" y="4526280"/>
            <a:ext cx="822960" cy="822960"/>
          </a:xfrm>
          <a:prstGeom prst="ellipse">
            <a:avLst/>
          </a:prstGeom>
          <a:solidFill>
            <a:srgbClr val="CCFF33">
              <a:alpha val="10000"/>
            </a:srgbClr>
          </a:solidFill>
          <a:ln w="19050">
            <a:solidFill>
              <a:srgbClr val="CCFF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7860"/>
                </a:solidFill>
              </a:rPr>
              <a:t>LC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726680" y="5257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3D6B5E"/>
                </a:solidFill>
              </a:rPr>
              <a:t>LEANDRO COSER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Diagnóstico de Métricas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FF33"/>
                </a:solidFill>
              </a:rPr>
              <a:t>Análise quantitativa dos principais indicadores de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8"/>
                </a:solidFill>
              </a:rPr>
              <a:t>Engajamento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1316736"/>
            <a:ext cx="6400800" cy="292608"/>
          </a:xfrm>
          <a:prstGeom prst="rect">
            <a:avLst/>
          </a:prstGeom>
          <a:solidFill>
            <a:srgbClr val="1A2E28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377440" y="1316736"/>
            <a:ext cx="2048256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915400" y="1280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32%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8"/>
                </a:solidFill>
              </a:rPr>
              <a:t>Freq. de Posts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2121408"/>
            <a:ext cx="6400800" cy="292608"/>
          </a:xfrm>
          <a:prstGeom prst="rect">
            <a:avLst/>
          </a:prstGeom>
          <a:solidFill>
            <a:srgbClr val="1A2E28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77440" y="2121408"/>
            <a:ext cx="365760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2084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57%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889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8"/>
                </a:solidFill>
              </a:rPr>
              <a:t>Consistência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2926080"/>
            <a:ext cx="6400800" cy="292608"/>
          </a:xfrm>
          <a:prstGeom prst="rect">
            <a:avLst/>
          </a:prstGeom>
          <a:solidFill>
            <a:srgbClr val="1A2E28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77440" y="2926080"/>
            <a:ext cx="4480560" cy="292608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28895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7860"/>
                </a:solidFill>
              </a:rPr>
              <a:t>70%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6941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8"/>
                </a:solidFill>
              </a:rPr>
              <a:t>Crescimento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77440" y="3730752"/>
            <a:ext cx="6400800" cy="292608"/>
          </a:xfrm>
          <a:prstGeom prst="rect">
            <a:avLst/>
          </a:prstGeom>
          <a:solidFill>
            <a:srgbClr val="1A2E28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77440" y="3730752"/>
            <a:ext cx="320040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915400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50%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228600" cy="1645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6451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6B5E"/>
                </a:solidFill>
              </a:rPr>
              <a:t>Ótimo (≥70%)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4663440"/>
            <a:ext cx="22860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493008" y="46451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6B5E"/>
                </a:solidFill>
              </a:rPr>
              <a:t>Regular (40-70%)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0" y="4663440"/>
            <a:ext cx="228600" cy="1645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46451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6B5E"/>
                </a:solidFill>
              </a:rPr>
              <a:t>Crítico (&lt;40%)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01000" y="4526280"/>
            <a:ext cx="822960" cy="822960"/>
          </a:xfrm>
          <a:prstGeom prst="ellipse">
            <a:avLst/>
          </a:prstGeom>
          <a:solidFill>
            <a:srgbClr val="CCFF33">
              <a:alpha val="10000"/>
            </a:srgbClr>
          </a:solidFill>
          <a:ln w="19050">
            <a:solidFill>
              <a:srgbClr val="CCFF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7860"/>
                </a:solidFill>
              </a:rPr>
              <a:t>LC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726680" y="5257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3D6B5E"/>
                </a:solidFill>
              </a:rPr>
              <a:t>LEANDRO COSER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Análise de Conteúdo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FF33"/>
                </a:solidFill>
              </a:rPr>
              <a:t>Tipos, formatos e padrões do conteúdo publicado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64008" cy="105156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53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860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" y="171907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8"/>
                </a:solidFill>
              </a:rPr>
              <a:t>Feed predominantemente com fotos estáticas de before/after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64008" cy="105156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53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860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56048" y="171907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8"/>
                </a:solidFill>
              </a:rPr>
              <a:t>Reels utilizados apenas 20% do tempo, com baixo engajamento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14600"/>
            <a:ext cx="64008" cy="105156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877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860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6928" y="295351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8"/>
                </a:solidFill>
              </a:rPr>
              <a:t>Stories inconsistentes — menos de 3 por semana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5146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514600"/>
            <a:ext cx="64008" cy="105156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5877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860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56048" y="295351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8"/>
                </a:solidFill>
              </a:rPr>
              <a:t>Legendas curtas sem estratégia de CTA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749040"/>
            <a:ext cx="64008" cy="105156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221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860"/>
                </a:solidFill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6928" y="418795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8"/>
                </a:solidFill>
              </a:rPr>
              <a:t>Hashtags repetidas em todos os posts sem variação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7490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749040"/>
            <a:ext cx="64008" cy="105156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8221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860"/>
                </a:solidFill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956048" y="418795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8"/>
                </a:solidFill>
              </a:rPr>
              <a:t>Alta qualidade visual nas fotos, profissional e consistente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01000" y="4526280"/>
            <a:ext cx="822960" cy="822960"/>
          </a:xfrm>
          <a:prstGeom prst="ellipse">
            <a:avLst/>
          </a:prstGeom>
          <a:solidFill>
            <a:srgbClr val="CCFF33">
              <a:alpha val="10000"/>
            </a:srgbClr>
          </a:solidFill>
          <a:ln w="19050">
            <a:solidFill>
              <a:srgbClr val="CCFF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7860"/>
                </a:solidFill>
              </a:rPr>
              <a:t>LC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726680" y="5257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3D6B5E"/>
                </a:solidFill>
              </a:rPr>
              <a:t>LEANDRO COSER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Pontos Fortes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FF33"/>
                </a:solidFill>
              </a:rPr>
              <a:t>O que está funcionando bem e deve ser mantido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1143000"/>
            <a:ext cx="2743200" cy="379476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CFF33"/>
                </a:solidFill>
              </a:rPr>
              <a:t>STRENGTHS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17373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</a:rPr>
              <a:t>✓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263640" y="31089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Capitalize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em seus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pontos fortes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344168"/>
            <a:ext cx="256032" cy="256032"/>
          </a:xfrm>
          <a:prstGeom prst="ellipse">
            <a:avLst/>
          </a:prstGeom>
          <a:solidFill>
            <a:srgbClr val="22C55E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44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1325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28"/>
                </a:solidFill>
              </a:rPr>
              <a:t>Identidade visual consistente e profissional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029968"/>
            <a:ext cx="256032" cy="256032"/>
          </a:xfrm>
          <a:prstGeom prst="ellipse">
            <a:avLst/>
          </a:prstGeom>
          <a:solidFill>
            <a:srgbClr val="22C55E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029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20116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28"/>
                </a:solidFill>
              </a:rPr>
              <a:t>Fotos de alta qualidade com boa iluminação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15768"/>
            <a:ext cx="256032" cy="256032"/>
          </a:xfrm>
          <a:prstGeom prst="ellipse">
            <a:avLst/>
          </a:prstGeom>
          <a:solidFill>
            <a:srgbClr val="22C55E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715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6974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28"/>
                </a:solidFill>
              </a:rPr>
              <a:t>Engajamento acima da média do nicho de estética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256032" cy="256032"/>
          </a:xfrm>
          <a:prstGeom prst="ellipse">
            <a:avLst/>
          </a:prstGeom>
          <a:solidFill>
            <a:srgbClr val="22C55E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401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3832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28"/>
                </a:solidFill>
              </a:rPr>
              <a:t>Boa relação seguidores/seguindo (perfil de autoridade)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087368"/>
            <a:ext cx="256032" cy="256032"/>
          </a:xfrm>
          <a:prstGeom prst="ellipse">
            <a:avLst/>
          </a:prstGeom>
          <a:solidFill>
            <a:srgbClr val="22C55E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087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40690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28"/>
                </a:solidFill>
              </a:rPr>
              <a:t>Bio clara com proposta de valor definida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01000" y="4526280"/>
            <a:ext cx="822960" cy="822960"/>
          </a:xfrm>
          <a:prstGeom prst="ellipse">
            <a:avLst/>
          </a:prstGeom>
          <a:solidFill>
            <a:srgbClr val="CCFF33">
              <a:alpha val="10000"/>
            </a:srgbClr>
          </a:solidFill>
          <a:ln w="19050">
            <a:solidFill>
              <a:srgbClr val="CCFF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7860"/>
                </a:solidFill>
              </a:rPr>
              <a:t>LC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26680" y="5257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3D6B5E"/>
                </a:solidFill>
              </a:rPr>
              <a:t>LEANDRO COSER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Pontos de Melhoria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FF33"/>
                </a:solidFill>
              </a:rPr>
              <a:t>Oportunidades identificadas para evoluir o perfil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1143000"/>
            <a:ext cx="2743200" cy="3794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MELHORIAS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17373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</a:rPr>
              <a:t>!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6263640" y="31089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Transforme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fraquezas 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oportunidades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344168"/>
            <a:ext cx="256032" cy="256032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44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1325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28"/>
                </a:solidFill>
              </a:rPr>
              <a:t>Baixíssima frequência de Stories (menos de 3/semana)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029968"/>
            <a:ext cx="256032" cy="256032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029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20116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28"/>
                </a:solidFill>
              </a:rPr>
              <a:t>Ausência de call-to-action nas legendas dos posts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15768"/>
            <a:ext cx="256032" cy="256032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715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6974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28"/>
                </a:solidFill>
              </a:rPr>
              <a:t>Hashtags repetidas sem estratégia segmentada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256032" cy="256032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401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3832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28"/>
                </a:solidFill>
              </a:rPr>
              <a:t>Reels pouco utilizados — principal ferramenta de alcance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087368"/>
            <a:ext cx="256032" cy="256032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087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40690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28"/>
                </a:solidFill>
              </a:rPr>
              <a:t>Nenhuma campanha de indicação ou sorteio para crescimento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01000" y="4526280"/>
            <a:ext cx="822960" cy="822960"/>
          </a:xfrm>
          <a:prstGeom prst="ellipse">
            <a:avLst/>
          </a:prstGeom>
          <a:solidFill>
            <a:srgbClr val="CCFF33">
              <a:alpha val="10000"/>
            </a:srgbClr>
          </a:solidFill>
          <a:ln w="19050">
            <a:solidFill>
              <a:srgbClr val="CCFF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7860"/>
                </a:solidFill>
              </a:rPr>
              <a:t>LC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26680" y="5257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3D6B5E"/>
                </a:solidFill>
              </a:rPr>
              <a:t>LEANDRO COSER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78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FF33"/>
                </a:solidFill>
              </a:rPr>
              <a:t>RECOMENDAÇÕES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ESTRATÉGICAS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1371600"/>
          </a:xfrm>
          <a:prstGeom prst="rect">
            <a:avLst/>
          </a:prstGeom>
          <a:solidFill>
            <a:srgbClr val="0A544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64008" cy="1371600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6184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FF33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" y="2011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F33"/>
                </a:solidFill>
              </a:rPr>
              <a:t>Estratégia de Reels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31343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FFF8"/>
                </a:solidFill>
              </a:rPr>
              <a:t>Criar 3 Reels por semana mostrando procedimentos e resultados para ampliar alcance orgânico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4114800" cy="1371600"/>
          </a:xfrm>
          <a:prstGeom prst="rect">
            <a:avLst/>
          </a:prstGeom>
          <a:solidFill>
            <a:srgbClr val="0A544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508760"/>
            <a:ext cx="64008" cy="1371600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12" name="Text 10"/>
          <p:cNvSpPr/>
          <p:nvPr/>
        </p:nvSpPr>
        <p:spPr>
          <a:xfrm>
            <a:off x="5010912" y="16184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FF33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10912" y="2011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F33"/>
                </a:solidFill>
              </a:rPr>
              <a:t>Stories Diários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0912" y="231343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FFF8"/>
                </a:solidFill>
              </a:rPr>
              <a:t>Publicar 5-7 Stories/dia com bastidores, depoimentos e interações (enquetes, caixa de perguntas)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1371600"/>
          </a:xfrm>
          <a:prstGeom prst="rect">
            <a:avLst/>
          </a:prstGeom>
          <a:solidFill>
            <a:srgbClr val="0A544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64008" cy="1371600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32186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FF33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0352" y="36118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F33"/>
                </a:solidFill>
              </a:rPr>
              <a:t>CTA nas Legendas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91363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FFF8"/>
                </a:solidFill>
              </a:rPr>
              <a:t>Terminar cada legenda com chamada para ação: 'Agende agora', 'Chame no DM', 'Clique no link'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108960"/>
            <a:ext cx="4114800" cy="1371600"/>
          </a:xfrm>
          <a:prstGeom prst="rect">
            <a:avLst/>
          </a:prstGeom>
          <a:solidFill>
            <a:srgbClr val="0A544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108960"/>
            <a:ext cx="64008" cy="1371600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22" name="Text 20"/>
          <p:cNvSpPr/>
          <p:nvPr/>
        </p:nvSpPr>
        <p:spPr>
          <a:xfrm>
            <a:off x="5010912" y="32186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FF33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10912" y="36118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F33"/>
                </a:solidFill>
              </a:rPr>
              <a:t>Hashtags Estratégicas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10912" y="391363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FFF8"/>
                </a:solidFill>
              </a:rPr>
              <a:t>Criar 3 grupos distintos de hashtags: amplas, de nicho e de cidade para rotacionar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01000" y="4526280"/>
            <a:ext cx="822960" cy="822960"/>
          </a:xfrm>
          <a:prstGeom prst="ellipse">
            <a:avLst/>
          </a:prstGeom>
          <a:solidFill>
            <a:srgbClr val="0D7860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LC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26680" y="5257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LEANDRO COSER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Plano de Ação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FF33"/>
                </a:solidFill>
              </a:rPr>
              <a:t>Prioridades e próximos passos para implementação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6" name="Shape 4"/>
          <p:cNvSpPr/>
          <p:nvPr/>
        </p:nvSpPr>
        <p:spPr>
          <a:xfrm>
            <a:off x="649224" y="1737360"/>
            <a:ext cx="36576" cy="32004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344168"/>
            <a:ext cx="502920" cy="502920"/>
          </a:xfrm>
          <a:prstGeom prst="ellipse">
            <a:avLst/>
          </a:prstGeom>
          <a:solidFill>
            <a:srgbClr val="CCFF33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860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1380744"/>
            <a:ext cx="1097280" cy="228600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807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860"/>
                </a:solidFill>
              </a:rPr>
              <a:t>Semana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31720" y="1362456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28"/>
                </a:solidFill>
              </a:rPr>
              <a:t>Reestruturar bio, adicionar link de agendamento e criar 5 Highlights organizados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" y="2450592"/>
            <a:ext cx="36576" cy="32004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057400"/>
            <a:ext cx="502920" cy="502920"/>
          </a:xfrm>
          <a:prstGeom prst="ellipse">
            <a:avLst/>
          </a:prstGeom>
          <a:solidFill>
            <a:srgbClr val="0D786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2093976"/>
            <a:ext cx="1097280" cy="228600"/>
          </a:xfrm>
          <a:prstGeom prst="rect">
            <a:avLst/>
          </a:prstGeom>
          <a:solidFill>
            <a:srgbClr val="0D7860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0939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Semana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31720" y="207568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28"/>
                </a:solidFill>
              </a:rPr>
              <a:t>Criar calendário editorial com 3 posts + 3 Reels + Stories diários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" y="3163824"/>
            <a:ext cx="36576" cy="32004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2770632"/>
            <a:ext cx="502920" cy="502920"/>
          </a:xfrm>
          <a:prstGeom prst="ellipse">
            <a:avLst/>
          </a:prstGeom>
          <a:solidFill>
            <a:srgbClr val="0D7860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2807208"/>
            <a:ext cx="1097280" cy="228600"/>
          </a:xfrm>
          <a:prstGeom prst="rect">
            <a:avLst/>
          </a:prstGeom>
          <a:solidFill>
            <a:srgbClr val="0D7860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2807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Semana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31720" y="278892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28"/>
                </a:solidFill>
              </a:rPr>
              <a:t>Gravar série de 4 Reels de antes/depois com música trending e legenda otimizada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" y="3877056"/>
            <a:ext cx="36576" cy="320040"/>
          </a:xfrm>
          <a:prstGeom prst="rect">
            <a:avLst/>
          </a:prstGeom>
          <a:solidFill>
            <a:srgbClr val="0D7860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" y="3483864"/>
            <a:ext cx="502920" cy="502920"/>
          </a:xfrm>
          <a:prstGeom prst="ellipse">
            <a:avLst/>
          </a:prstGeom>
          <a:solidFill>
            <a:srgbClr val="0D7860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97280" y="3520440"/>
            <a:ext cx="1097280" cy="228600"/>
          </a:xfrm>
          <a:prstGeom prst="rect">
            <a:avLst/>
          </a:prstGeom>
          <a:solidFill>
            <a:srgbClr val="0D7860">
              <a:alpha val="9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Mês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31720" y="350215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28"/>
                </a:solidFill>
              </a:rPr>
              <a:t>Lançar campanha de indicação com incentivo e medir crescimento de seguidores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4197096"/>
            <a:ext cx="502920" cy="502920"/>
          </a:xfrm>
          <a:prstGeom prst="ellipse">
            <a:avLst/>
          </a:prstGeom>
          <a:solidFill>
            <a:srgbClr val="0D7860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97280" y="4233672"/>
            <a:ext cx="1097280" cy="228600"/>
          </a:xfrm>
          <a:prstGeom prst="rect">
            <a:avLst/>
          </a:prstGeom>
          <a:solidFill>
            <a:srgbClr val="0D7860">
              <a:alpha val="9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" y="42336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Mês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31720" y="4215384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28"/>
                </a:solidFill>
              </a:rPr>
              <a:t>Análise de resultados, ajuste de estratégia e definição de metas para o próximo trimestre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01000" y="4526280"/>
            <a:ext cx="822960" cy="822960"/>
          </a:xfrm>
          <a:prstGeom prst="ellipse">
            <a:avLst/>
          </a:prstGeom>
          <a:solidFill>
            <a:srgbClr val="CCFF33">
              <a:alpha val="10000"/>
            </a:srgbClr>
          </a:solidFill>
          <a:ln w="19050">
            <a:solidFill>
              <a:srgbClr val="CCFF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7860"/>
                </a:solidFill>
              </a:rPr>
              <a:t>LC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726680" y="5257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3D6B5E"/>
                </a:solidFill>
              </a:rPr>
              <a:t>LEANDRO COSER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78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F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85444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CF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572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CFF33"/>
                </a:solidFill>
              </a:rPr>
              <a:t>LC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28600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LEANDRO COSER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Obrigado!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Este diagnóstico é o primeiro passo para transformar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seu Instagram em uma máquina de resultados.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AA9A"/>
                </a:solidFill>
              </a:rPr>
              <a:t>Análise realizada para: Clínica Estética Prestige  ·  @clinicaprestige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FF33"/>
                </a:solidFill>
              </a:rPr>
              <a:t>leandrocoser.com.br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Instagram - Clínica Estética Prestige</dc:title>
  <dc:subject>Análise de Perfil Instagram</dc:subject>
  <dc:creator>Leandro Coser</dc:creator>
  <cp:lastModifiedBy>Leandro Coser</cp:lastModifiedBy>
  <cp:revision>1</cp:revision>
  <dcterms:created xsi:type="dcterms:W3CDTF">2026-03-16T21:20:34Z</dcterms:created>
  <dcterms:modified xsi:type="dcterms:W3CDTF">2026-03-16T21:20:34Z</dcterms:modified>
</cp:coreProperties>
</file>